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Beds deployed</c:v>
                </c:pt>
              </c:strCache>
            </c:strRef>
          </c:tx>
          <c:spPr>
            <a:solidFill>
              <a:srgbClr val="B04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1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Tennant Ck</c:v>
                  </c:pt>
                  <c:pt idx="1">
                    <c:v>Utopia</c:v>
                  </c:pt>
                  <c:pt idx="2">
                    <c:v>Palm Is.</c:v>
                  </c:pt>
                  <c:pt idx="3">
                    <c:v>Kalgoorlie</c:v>
                  </c:pt>
                  <c:pt idx="4">
                    <c:v>Maningrida</c:v>
                  </c:pt>
                  <c:pt idx="5">
                    <c:v>Alice</c:v>
                  </c:pt>
                  <c:pt idx="6">
                    <c:v>Mt Isa</c:v>
                  </c:pt>
                  <c:pt idx="7">
                    <c:v>Canberra</c:v>
                  </c:pt>
                  <c:pt idx="8">
                    <c:v>Darwin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</c:v>
                </c:pt>
                <c:pt idx="1">
                  <c:v>147</c:v>
                </c:pt>
                <c:pt idx="2">
                  <c:v>131</c:v>
                </c:pt>
                <c:pt idx="3">
                  <c:v>20</c:v>
                </c:pt>
                <c:pt idx="4">
                  <c:v>18</c:v>
                </c:pt>
                <c:pt idx="5">
                  <c:v>16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1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AU$ received</c:v>
                </c:pt>
              </c:strCache>
            </c:strRef>
          </c:tx>
          <c:spPr>
            <a:solidFill>
              <a:srgbClr val="B049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11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Snow Foundation</c:v>
                  </c:pt>
                  <c:pt idx="1">
                    <c:v>Centrecorp</c:v>
                  </c:pt>
                  <c:pt idx="2">
                    <c:v>VFFF</c:v>
                  </c:pt>
                  <c:pt idx="3">
                    <c:v>QIC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402930</c:v>
                </c:pt>
                <c:pt idx="1">
                  <c:v>123332</c:v>
                </c:pt>
                <c:pt idx="2">
                  <c:v>50000</c:v>
                </c:pt>
                <c:pt idx="3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11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injection</c:v>
                </c:pt>
              </c:strCache>
            </c:strRef>
          </c:tx>
          <c:spPr>
            <a:solidFill>
              <a:srgbClr val="7A6A59"/>
            </a:solidFill>
            <a:ln w="38100" cap="flat">
              <a:solidFill>
                <a:srgbClr val="7A6A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6A59"/>
              </a:solidFill>
              <a:ln w="9525" cap="flat">
                <a:solidFill>
                  <a:srgbClr val="7A6A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M30</c:v>
                  </c:pt>
                  <c:pt idx="6">
                    <c:v>M36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-120000</c:v>
                </c:pt>
                <c:pt idx="2">
                  <c:v>-240000</c:v>
                </c:pt>
                <c:pt idx="3">
                  <c:v>-360000</c:v>
                </c:pt>
                <c:pt idx="4">
                  <c:v>-487722</c:v>
                </c:pt>
                <c:pt idx="5">
                  <c:v>-487722</c:v>
                </c:pt>
                <c:pt idx="6">
                  <c:v>-487722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catalytic injection</c:v>
                </c:pt>
              </c:strCache>
            </c:strRef>
          </c:tx>
          <c:spPr>
            <a:solidFill>
              <a:srgbClr val="6E7F5B"/>
            </a:solidFill>
            <a:ln w="38100" cap="flat">
              <a:solidFill>
                <a:srgbClr val="6E7F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E7F5B"/>
              </a:solidFill>
              <a:ln w="9525" cap="flat">
                <a:solidFill>
                  <a:srgbClr val="6E7F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M6</c:v>
                  </c:pt>
                  <c:pt idx="2">
                    <c:v>M12</c:v>
                  </c:pt>
                  <c:pt idx="3">
                    <c:v>M18</c:v>
                  </c:pt>
                  <c:pt idx="4">
                    <c:v>M24</c:v>
                  </c:pt>
                  <c:pt idx="5">
                    <c:v>M30</c:v>
                  </c:pt>
                  <c:pt idx="6">
                    <c:v>M36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-90000</c:v>
                </c:pt>
                <c:pt idx="2">
                  <c:v>-177292</c:v>
                </c:pt>
                <c:pt idx="3">
                  <c:v>-60000</c:v>
                </c:pt>
                <c:pt idx="4">
                  <c:v>40000</c:v>
                </c:pt>
                <c:pt idx="5">
                  <c:v>140000</c:v>
                </c:pt>
                <c:pt idx="6">
                  <c:v>212278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11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D9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211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049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good bed can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 heart disease.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household goods, designed with remote communities, built for real conditions, and moving toward community ownership.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5A4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496 </a:t>
            </a:r>
            <a:pPr indent="0" marL="0"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 deployed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52578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</a:t>
            </a:r>
            <a:pPr indent="0" marL="0"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309360" y="52578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AU$649,710 </a:t>
            </a:r>
            <a:pPr indent="0" marL="0"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(Xero, unaudited)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visit  goodsoncountry.com/admin/assets  — every bed is QR-tracked. Trust the register, not the pitch.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512" cy="6858000"/>
          </a:xfrm>
          <a:prstGeom prst="rect">
            <a:avLst/>
          </a:prstGeom>
          <a:solidFill>
            <a:srgbClr val="F4EE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 GB0-156-96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 Nelson's bed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Nelson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Plenty Highway, NT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-22.969, 133.836</a:t>
            </a:r>
            <a:endParaRPr lang="en-US" sz="14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Supplied 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May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4F7A3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319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65960" y="39319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community voice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IMPACT WE ARE SCALING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600" i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“Since receiving their new beds,</a:t>
            </a:r>
            <a:endParaRPr lang="en-US" sz="26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600" i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no longer experiencing back pains.”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0" y="420624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bed carries a name, a place, and a digital twin in the live register. Investor conversations start by scanning one — the proof is checkable before a word is spoken.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goods that protect health are the</a:t>
            </a:r>
            <a:endParaRPr lang="en-US" sz="31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worst-designed things in the house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331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Unwashable bedding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35808" y="23317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46704" y="23317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56432" y="2331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Scabies &amp; skin infection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42432" y="23317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053328" y="23317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2331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 A / rheumatic fever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49056" y="233172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759952" y="2331720"/>
            <a:ext cx="2395728" cy="960120"/>
          </a:xfrm>
          <a:prstGeom prst="roundRect">
            <a:avLst>
              <a:gd name="adj" fmla="val 7619"/>
            </a:avLst>
          </a:prstGeom>
          <a:solidFill>
            <a:srgbClr val="B0492E"/>
          </a:solidFill>
          <a:ln w="12700">
            <a:solidFill>
              <a:srgbClr val="B0492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331720"/>
            <a:ext cx="2249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Rheumatic heart disease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disease almost unheard of in wealthy Australia is endemic in remote communities. Beds and washing machines are environmental-health hardware — not charity, not convenience.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5303520" cy="1417320"/>
          </a:xfrm>
          <a:prstGeom prst="rect">
            <a:avLst/>
          </a:prstGeom>
          <a:solidFill>
            <a:srgbClr val="F4EE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663440"/>
            <a:ext cx="91440" cy="1417320"/>
          </a:xfrm>
          <a:prstGeom prst="rect">
            <a:avLst/>
          </a:prstGeom>
          <a:solidFill>
            <a:srgbClr val="D08C2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8006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22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~AU$3M / year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washing machines sold into remote communities by one Alice Springs supplier — most landfilled within months.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309360" y="4663440"/>
            <a:ext cx="5212080" cy="1417320"/>
          </a:xfrm>
          <a:prstGeom prst="rect">
            <a:avLst/>
          </a:prstGeom>
          <a:solidFill>
            <a:srgbClr val="F4EEE5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4663440"/>
            <a:ext cx="91440" cy="1417320"/>
          </a:xfrm>
          <a:prstGeom prst="rect">
            <a:avLst/>
          </a:prstGeom>
          <a:solidFill>
            <a:srgbClr val="6E7F5B"/>
          </a:solidFill>
          <a:ln/>
        </p:spPr>
      </p:sp>
      <p:sp>
        <p:nvSpPr>
          <p:cNvPr id="21" name="Text 19"/>
          <p:cNvSpPr/>
          <p:nvPr/>
        </p:nvSpPr>
        <p:spPr>
          <a:xfrm>
            <a:off x="6601968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comparable product exists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washable, repairable, flat-pack remote mattress; no repair-engineered remote washing machine on the market today.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delivered at scale — split honestly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22402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30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496 beds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Stretch + 363 Basket (legacy, open-sourced)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863840" y="34290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30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communities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NT, QLD &amp; WA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863840" y="4617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30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2,660 kg
</a:t>
            </a:r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HDPE plastic diverted (Stretch beds)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863840" y="580644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4F7A3F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5806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89720" y="57790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register, 29 May 2026 — beds tracked, not “shipped”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Utopia Homelands, May 2026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3A2E22"/>
          </a:solidFill>
          <a:ln w="12700">
            <a:solidFill>
              <a:srgbClr val="5A4B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4688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beds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over two days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383280" y="22860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3A2E22"/>
          </a:solidFill>
          <a:ln w="12700">
            <a:solidFill>
              <a:srgbClr val="5A4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24688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1.74 t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diverted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126480" y="22860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3A2E22"/>
          </a:solidFill>
          <a:ln w="12700">
            <a:solidFill>
              <a:srgbClr val="5A4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4688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households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recipients + 51 held by Council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869680" y="228600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3A2E22"/>
          </a:solidFill>
          <a:ln w="12700">
            <a:solidFill>
              <a:srgbClr val="5A4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468880"/>
            <a:ext cx="2221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partners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Oonchiumpa Consultancy + Utopia Council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waste plastic to a bed — made on country, delivered on country.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collected locally becomes the product delivered locally, with partners Oonchiumpa Consultancy and Utopia Council. The delivery model is the differentiator, not any single feature.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F4EEE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Stretch Bed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flat-pack, washable bed where the canvas is structural. The galvanised steel poles thread through the canvas sleeves and the crossed-plank recycled-plastic legs; tensioning the assembly pulls it tight. No tools, about five minutes. It stands because of how it is built.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kg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01752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kg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capacity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39496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 min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assembly, no tools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 yr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life · 5-yr warranty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017520" y="4846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kg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 diverted / bed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394960" y="4846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3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AU$750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price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305495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5495" y="164592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HDPE plastic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X-trestle legs, pressed on country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Galvanised steel poles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26.9mm OD × 2.6mm wall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Heavy-duty Australian canvas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sleeping surface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05495" y="5120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product for direct sale. A washing-machine prototype (Pakkimjalki Kari) and an on-country production plant follow.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COMMERCIAL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today's cost, the business can't stand alone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6E7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AU$750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4F7A3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520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805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AU$684.79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to make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480560" y="352044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C07F1E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35204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30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~1,679 / yr
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volume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38160" y="352044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5606E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3520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deploy about 130 beds a year. Breakeven at today's cost sits near 1,679 — out of reach, and we won't pretend otherwise.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881360" cy="960120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3036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~89% grant-funded, by design.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commercial revenue is AU$90 (three orders). That is the point: communities want it and funders pay for it — we have not yet proven it can be made at a price that stands alone. That is what this round funds.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THIS CAPITAL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In-source the plastic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42316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AU$684.79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bought-in legs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04672" y="338328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C07F1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338328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0" y="224028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06240" y="22402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FE6D8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242316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AU$425.74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in-source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370832" y="33832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5606E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3383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365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772400" y="224028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EFE6D8"/>
          </a:solidFill>
          <a:ln w="12700">
            <a:solidFill>
              <a:srgbClr val="E3D9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242316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AU$270.74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in-source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936992" y="338328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5606E"/>
          </a:solidFill>
          <a:ln/>
        </p:spPr>
      </p:sp>
      <p:sp>
        <p:nvSpPr>
          <p:cNvPr id="17" name="Text 15"/>
          <p:cNvSpPr/>
          <p:nvPr/>
        </p:nvSpPr>
        <p:spPr>
          <a:xfrm>
            <a:off x="7936992" y="33832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input: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8.6× markup on the HDPE legs we currently buy. The cost-down is real arithmetic — but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beds have been assembled in-house yet. This number is a hypothesis, not a result.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5349240" cy="1143000"/>
          </a:xfrm>
          <a:prstGeom prst="rect">
            <a:avLst/>
          </a:prstGeom>
          <a:solidFill>
            <a:srgbClr val="6E7F5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0235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50-bed in-source run confirms AU$425.74  →  scale the raise on proven economics.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4983480"/>
            <a:ext cx="5349240" cy="1143000"/>
          </a:xfrm>
          <a:prstGeom prst="rect">
            <a:avLst/>
          </a:prstGeom>
          <a:solidFill>
            <a:srgbClr val="B0492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510235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re-base the raise honestly at AU$684.79 and adjust. Either way, the round is de-risked.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IS MULTI-SOURCED — BUT IT'S GRANTS, NOT YET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in, told straight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40280"/>
          <a:ext cx="6583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22860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AU$649,710.79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across funders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818120" y="324612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C07F1E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32461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WORKPAPER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1812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mirror, 29 May 2026 — unaudited. Never “audited Goods revenue.”  88.8% collected; AU$82,500 in-flight.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4526280"/>
            <a:ext cx="3703320" cy="1280160"/>
          </a:xfrm>
          <a:prstGeom prst="rect">
            <a:avLst/>
          </a:prstGeom>
          <a:solidFill>
            <a:srgbClr val="F4EEE5"/>
          </a:solidFill>
          <a:ln/>
        </p:spPr>
      </p:sp>
      <p:sp>
        <p:nvSpPr>
          <p:cNvPr id="10" name="Shape 7"/>
          <p:cNvSpPr/>
          <p:nvPr/>
        </p:nvSpPr>
        <p:spPr>
          <a:xfrm>
            <a:off x="7818120" y="4526280"/>
            <a:ext cx="91440" cy="1280160"/>
          </a:xfrm>
          <a:prstGeom prst="rect">
            <a:avLst/>
          </a:prstGeom>
          <a:solidFill>
            <a:srgbClr val="D08C2E"/>
          </a:solidFill>
          <a:ln/>
        </p:spPr>
      </p:sp>
      <p:sp>
        <p:nvSpPr>
          <p:cNvPr id="11" name="Text 8"/>
          <p:cNvSpPr/>
          <p:nvPr/>
        </p:nvSpPr>
        <p:spPr>
          <a:xfrm>
            <a:off x="8092440" y="46451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AU$90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commercial revenue (3 shop orders). Institutional LOIs in pipeline — none signed yet.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INTERNALLY CONSISTENT — AND THE GAP IS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curves, 36 months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7315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237744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2200" b="1" dirty="0">
                <a:solidFill>
                  <a:srgbClr val="7A6A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−AU$487,722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un-injected by month 36
</a:t>
            </a:r>
            <a:endParaRPr lang="en-US" sz="2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2200" b="1" dirty="0">
                <a:solidFill>
                  <a:srgbClr val="6E7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+AU$212,278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injected, by month 36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321040" y="466344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55606E"/>
          </a:solidFill>
          <a:ln/>
        </p:spPr>
      </p:sp>
      <p:sp>
        <p:nvSpPr>
          <p:cNvPr id="7" name="Text 4"/>
          <p:cNvSpPr/>
          <p:nvPr/>
        </p:nvSpPr>
        <p:spPr>
          <a:xfrm>
            <a:off x="8321040" y="4663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321040" y="50292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Intra-period trough −AU$177,292. The injection stack is QBE + SEFA + philanthropy. We show the trough, not just the recovery.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PRECISE, SEQUENCED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AU$900K–1M, blended, non-equity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first ~AU$400K of signed, match-eligible capital by 31 August 2026.   Signed LOIs today: 0 — a conversation problem, not a discovery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949440" cy="841248"/>
          </a:xfrm>
          <a:prstGeom prst="rect">
            <a:avLst/>
          </a:prstGeom>
          <a:solidFill>
            <a:srgbClr val="3A2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468880"/>
            <a:ext cx="109728" cy="841248"/>
          </a:xfrm>
          <a:prstGeom prst="rect">
            <a:avLst/>
          </a:prstGeom>
          <a:solidFill>
            <a:srgbClr val="6E7F5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46888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Grants — junior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R4/R5 · Centrecorp · VFFF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852160" y="2468880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E7F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~AU$500K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419856"/>
            <a:ext cx="6949440" cy="841248"/>
          </a:xfrm>
          <a:prstGeom prst="rect">
            <a:avLst/>
          </a:prstGeom>
          <a:solidFill>
            <a:srgbClr val="3A2E2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3419856"/>
            <a:ext cx="109728" cy="841248"/>
          </a:xfrm>
          <a:prstGeom prst="rect">
            <a:avLst/>
          </a:prstGeom>
          <a:solidFill>
            <a:srgbClr val="D08C2E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419856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Catalytic top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QBE match — 1:1, repayable preferred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341985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08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$400K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370832"/>
            <a:ext cx="6949440" cy="841248"/>
          </a:xfrm>
          <a:prstGeom prst="rect">
            <a:avLst/>
          </a:prstGeom>
          <a:solidFill>
            <a:srgbClr val="3A2E22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370832"/>
            <a:ext cx="109728" cy="841248"/>
          </a:xfrm>
          <a:prstGeom prst="rect">
            <a:avLst/>
          </a:prstGeom>
          <a:solidFill>
            <a:srgbClr val="B0492E"/>
          </a:solidFill>
          <a:ln/>
        </p:spPr>
      </p:sp>
      <p:sp>
        <p:nvSpPr>
          <p:cNvPr id="15" name="Text 13"/>
          <p:cNvSpPr/>
          <p:nvPr/>
        </p:nvSpPr>
        <p:spPr>
          <a:xfrm>
            <a:off x="932688" y="4370832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Concessional debt — senior 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SEFA working capital (gated on model + board)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52160" y="4370832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04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AU$300K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53949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amounts TARGET except the QBE invitation. No equity — the end-state is community-owned production.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2468880"/>
            <a:ext cx="3703320" cy="3520440"/>
          </a:xfrm>
          <a:prstGeom prst="roundRect">
            <a:avLst>
              <a:gd name="adj" fmla="val 2078"/>
            </a:avLst>
          </a:prstGeom>
          <a:solidFill>
            <a:srgbClr val="3A2E22"/>
          </a:solidFill>
          <a:ln w="12700">
            <a:solidFill>
              <a:srgbClr val="5A4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306324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AU$60–80K   </a:t>
            </a:r>
            <a:pPr indent="0" marL="0">
              <a:lnSpc>
                <a:spcPts val="30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50-bed in-source proof run
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$300–400K   </a:t>
            </a:r>
            <a:pPr indent="0" marL="0">
              <a:lnSpc>
                <a:spcPts val="30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capex
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$150–200K   </a:t>
            </a:r>
            <a:pPr indent="0" marL="0">
              <a:lnSpc>
                <a:spcPts val="30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working-capital buffer
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~$200K   </a:t>
            </a:r>
            <a:pPr indent="0" marL="0">
              <a:lnSpc>
                <a:spcPts val="3000"/>
              </a:lnSpc>
              <a:buNone/>
            </a:pPr>
            <a:r>
              <a:rPr lang="en-US" sz="115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+ Business Development hires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PROTECTS THE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hand over, not to hold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Curious Tractor Pty Ltd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company (t/a Goods on Country). All Goods activity migrating in this FY from sole-trader.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21945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23774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Butterfly Movement Ltd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DGR home (ACNC, Item 1). Operational FY2026-27 — not live today; donors can't tax-receipt yet.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7F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community-employed production operator within 12 months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Aboriginal-controlled operating entity scoped by end FY2026-27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AND SAID OUT LOUD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452628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advisory, not yet a fiduciary board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operating form &amp; mission-lock undecided (with MinterEllison)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First Nations ownership gates 4 of 8 procurement channels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1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clocks, one ~12-week window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542032"/>
            <a:ext cx="502920" cy="502920"/>
          </a:xfrm>
          <a:prstGeom prst="ellipse">
            <a:avLst/>
          </a:prstGeom>
          <a:solidFill>
            <a:srgbClr val="B049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487168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QBE match gate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and binary. Stage 2 closes Sep 2026, assessed Oct, outcomes Nov.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542032"/>
            <a:ext cx="502920" cy="502920"/>
          </a:xfrm>
          <a:prstGeom prst="ellipse">
            <a:avLst/>
          </a:prstGeom>
          <a:solidFill>
            <a:srgbClr val="B0492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2487168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Freshest proof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after the May 2026 Utopia deployment — the strongest evidence we've ever had.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370832"/>
            <a:ext cx="502920" cy="502920"/>
          </a:xfrm>
          <a:prstGeom prst="ellipse">
            <a:avLst/>
          </a:prstGeom>
          <a:solidFill>
            <a:srgbClr val="B049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315968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program machinery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volunteering + 6-session PIN mentoring running now; ends August.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411480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4EEE5"/>
          </a:solidFill>
          <a:ln w="12700">
            <a:solidFill>
              <a:srgbClr val="E3D9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370832"/>
            <a:ext cx="502920" cy="502920"/>
          </a:xfrm>
          <a:prstGeom prst="ellipse">
            <a:avLst/>
          </a:prstGeom>
          <a:solidFill>
            <a:srgbClr val="B0492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4370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86600" y="4315968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B21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Funders watching each other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 R4/R5, Centrecorp (~end-June board), SEFA advanced — all waiting for the first to move.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on Country  ·  catalytic investment  ·  draft 2026-06-13  ·  figures per master alignment map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049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first signed commitment.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catalytic dollar is structured to unlock several behind it. The match doubles it, concessional debt follows it, and a 50-bed run proves the economics that turn a funded program into a business that can belong to the communities it serves.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5212080"/>
            <a:ext cx="10881360" cy="0"/>
          </a:xfrm>
          <a:prstGeom prst="line">
            <a:avLst/>
          </a:prstGeom>
          <a:noFill/>
          <a:ln w="12700">
            <a:solidFill>
              <a:srgbClr val="5A4B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 Knight   </a:t>
            </a:r>
            <a:pPr indent="0" marL="0">
              <a:buNone/>
            </a:pPr>
            <a:r>
              <a:rPr lang="en-US" sz="1300" dirty="0">
                <a:solidFill>
                  <a:srgbClr val="F4E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Nicholas Marchesi   ·   goodsoncountry.com/admin/assets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Re-pull Xero figures immediately before sending. Use only consent-cleared community voices.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Goods on Country — Catalytic Investment</dc:title>
  <dc:subject>PptxGenJS Presentation</dc:subject>
  <dc:creator>Goods on Country</dc:creator>
  <cp:lastModifiedBy>Goods on Country</cp:lastModifiedBy>
  <cp:revision>1</cp:revision>
  <dcterms:created xsi:type="dcterms:W3CDTF">2026-06-13T04:59:04Z</dcterms:created>
  <dcterms:modified xsi:type="dcterms:W3CDTF">2026-06-13T04:59:04Z</dcterms:modified>
</cp:coreProperties>
</file>